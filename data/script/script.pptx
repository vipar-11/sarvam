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9E0B"/>
                </a:solidFill>
              </a:defRPr>
            </a:pPr>
            <a:r>
              <a:t>BUILDING VOICE &amp; LLM APPLICATIONS WITH SARVAM AI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</a:defRPr>
            </a:pPr>
            <a:r>
              <a:t>From Foundational LLM APIs to Sovereign Voice-to-Voice AI Agents</a:t>
            </a:r>
          </a:p>
          <a:p>
            <a:pPr>
              <a:spcBef>
                <a:spcPts val="2000"/>
              </a:spcBef>
              <a:defRPr sz="1300">
                <a:solidFill>
                  <a:srgbClr val="94A3B8"/>
                </a:solidFill>
              </a:defRPr>
            </a:pPr>
            <a:r>
              <a:t>• Chat Completions &amp; Streaming  • Function / Tool Calling  • Indic NLP &amp; Translation</a:t>
            </a:r>
            <a:br/>
            <a:r>
              <a:t>• Bulbul TTS &amp; Saaras STT  • Document OCR &amp; Extraction  • Full-Duplex Voice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SARVAM AI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AI Revolution &amp; The Need for Sovereign AI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Why global foundation models require an India-first counterpart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Global LLMs (Western-Centric)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❌  Trained primarily on English and Latin-script corpora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❌  High tokenization fragmentation (3x-6x token bloat for Indic scripts)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❌  Stiff, textbook translations lacking colloquial nuances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❌  Struggles with regional Indian accents, noise, and code-mixed speech (Hinglish, Tanglish)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The India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✅  1.4+ Billion population with 22 scheduled official languages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✅  Millions of users prefer voice-first &amp; vernacular text interfaces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✅  Massive enterprise demand in Banking, Insurance, Healthcare, &amp; Gov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✅  Critical need for Data Sovereignty &amp; locally optimized token economics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SARVAM AI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Introducing Sarvam AI: India's Frontier AI Lab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Purpose-built foundational models for Indian languages, speech, and documents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Reasoning &amp; LLMs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Model: sarvam-105b-conversations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Conversational model fine-tuned for reasoning, multi-turn dialog, and OpenAI-compatible function calling.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Indic Language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2402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Model: Text &amp; Translation APIs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Native support for 11+ Indian languages, real-time language detection, and classic vs. modern colloquial styles.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Voice &amp; Speech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262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Model: Bulbul (TTS) &amp; Saaras (STT)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Studio-grade neural speech synthesis and high-accuracy transcription robust against Indian accents and noise.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114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Document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5262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18CF8"/>
                </a:solidFill>
              </a:defRPr>
            </a:pPr>
            <a:r>
              <a:t>Model: Doc AI &amp; Schema Extraction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Asynchronous OCR digitization for printed/handwritten documents and schema-based JSON extraction.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SARVAM AI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Course Syllabus &amp; Learning Roadmap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 structured, hands-on path from foundational APIs to full-stack voice bots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574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Mod 1: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Hello World Setup</a:t>
            </a:r>
            <a:br/>
            <a:r>
              <a:t>• API Authentication</a:t>
            </a:r>
            <a:br/>
            <a:r>
              <a:t>• Response Payloads</a:t>
            </a:r>
            <a:br/>
            <a:r>
              <a:t>• Streaming &amp; TTFT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645920"/>
            <a:ext cx="20574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36391" y="18288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Mod 2: Conversational &amp;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1" y="228600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Multi-Turn Memory</a:t>
            </a:r>
            <a:br/>
            <a:r>
              <a:t>• System Personas</a:t>
            </a:r>
            <a:br/>
            <a:r>
              <a:t>• Function / Tool Calling</a:t>
            </a:r>
            <a:br/>
            <a:r>
              <a:t>• Gradio Web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645920"/>
            <a:ext cx="20574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12664" y="18288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Mod 3: NLP &amp; Multilingual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28600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Sentiment &amp; Summarization</a:t>
            </a:r>
            <a:br/>
            <a:r>
              <a:t>• OpenAI SDK Compatibility</a:t>
            </a:r>
            <a:br/>
            <a:r>
              <a:t>• Indic Language Translation</a:t>
            </a:r>
            <a:br/>
            <a:r>
              <a:t>• Token Cost Economics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645920"/>
            <a:ext cx="20574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88936" y="18288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Mod 4: Voice &amp; Doc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496" y="228600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Bulbul Text-to-Speech</a:t>
            </a:r>
            <a:br/>
            <a:r>
              <a:t>• Saaras Speech-to-Text</a:t>
            </a:r>
            <a:br/>
            <a:r>
              <a:t>• Document OCR Digitization</a:t>
            </a:r>
            <a:br/>
            <a:r>
              <a:t>• Schema-Based Extraction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645920"/>
            <a:ext cx="20574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65208" y="18288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Mod 5: Capstone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228600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Voice-to-Voice AI Assistant</a:t>
            </a:r>
            <a:br/>
            <a:r>
              <a:t>• Banking Agent with Tools</a:t>
            </a:r>
            <a:br/>
            <a:r>
              <a:t>• Voice Activity Detection</a:t>
            </a:r>
            <a:br/>
            <a:r>
              <a:t>• Production Web UI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MODULE 1: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01 – Hello World: Environment &amp; Chat Completion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Setting up credentials and executing your first API 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Key Concepts &amp;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Environment Security: Load credentials from .env using python-dotenv with defensive assertion.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Client Initialization: Instantiate SarvamAI(api_subscription_key=...).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Chat Completions: Invoke client.chat.completions() with model='sarvam-105b-conversations'.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Response Breakdown: Inspect choices, message content, finish_reason, and usage token 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Python Code Blueprint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from dotenv import load_dotenv</a:t>
            </a:r>
            <a:br/>
            <a:r>
              <a:t>import os</a:t>
            </a:r>
            <a:br/>
            <a:r>
              <a:t>from sarvamai import SarvamAI</a:t>
            </a:r>
            <a:br/>
            <a:br/>
            <a:r>
              <a:t>load_dotenv()</a:t>
            </a:r>
            <a:br/>
            <a:r>
              <a:t>SARVAM_API_KEY = os.getenv('SARVAM_API_KEY')</a:t>
            </a:r>
            <a:br/>
            <a:r>
              <a:t>assert SARVAM_API_KEY is not None</a:t>
            </a:r>
            <a:br/>
            <a:br/>
            <a:r>
              <a:t>client = SarvamAI(api_subscription_key=SARVAM_API_KEY)</a:t>
            </a:r>
            <a:br/>
            <a:br/>
            <a:r>
              <a:t>response = client.chat.completions(</a:t>
            </a:r>
            <a:br/>
            <a:r>
              <a:t>    model='sarvam-105b-conversations',</a:t>
            </a:r>
            <a:br/>
            <a:r>
              <a:t>    messages=[{'role': 'user', 'content': 'Hi!'}]</a:t>
            </a:r>
            <a:br/>
            <a:r>
              <a:t>)</a:t>
            </a:r>
            <a:br/>
            <a:r>
              <a:t>print(response.choices[0].message.content)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MODULE 1: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02 – Streaming API: Optimizing Latency &amp; TTFT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Delivering real-time conversational responses chunk-by-chunk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Blocking vs. Streaming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Blocking Call: User waits 3–8 seconds in silence until all tokens are generated.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Streaming Call: Time to First Token (TTFT) drops to &lt;300ms.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Generator Pattern: Iterate over stream yielding chunk deltas.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Chunk Structure: Extract chunk.choices[0].delta.content progressively.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Production UX: Essential for web interfaces, chat widgets, and voice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Streaming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59E0B"/>
                </a:solidFill>
              </a:defRPr>
            </a:pPr>
            <a:r>
              <a:t>stream = client.chat.completions(</a:t>
            </a:r>
            <a:br/>
            <a:r>
              <a:t>    model='sarvam-105b-conversations',</a:t>
            </a:r>
            <a:br/>
            <a:r>
              <a:t>    messages=[</a:t>
            </a:r>
            <a:br/>
            <a:r>
              <a:t>        {'role': 'user', 'content': 'Explain AI in 100 words'}</a:t>
            </a:r>
            <a:br/>
            <a:r>
              <a:t>    ],</a:t>
            </a:r>
            <a:br/>
            <a:r>
              <a:t>    stream=True</a:t>
            </a:r>
            <a:br/>
            <a:r>
              <a:t>)</a:t>
            </a:r>
            <a:br/>
            <a:br/>
            <a:r>
              <a:t>for chunk in stream:</a:t>
            </a:r>
            <a:br/>
            <a:r>
              <a:t>    delta = chunk.choices[0].delta.content</a:t>
            </a:r>
            <a:br/>
            <a:r>
              <a:t>    if delta:</a:t>
            </a:r>
            <a:br/>
            <a:r>
              <a:t>        print(delta, end='', flush=True)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MODULE 2: CONVERSATIONAL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03 – Multi-Turn Memory &amp; Persona Engineering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Maintaining state across conversational turns and shaping system behavior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Core Mechanics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Stateless Nature: LLMs retain no state between individual HTTP requests.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Conversation History: Client appends user queries and assistant replies to messages list.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System Prompts: Placed at messages[0] to establish persona, domain boundaries, and rules.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Example Persona: A cricket coach or banking advisor using localized vernacular greetings.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Stateful History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0B981"/>
                </a:solidFill>
              </a:defRPr>
            </a:pPr>
            <a:r>
              <a:t>messages = [</a:t>
            </a:r>
            <a:br/>
            <a:r>
              <a:t>    {'role': 'system', 'content': 'You are an Indian banking expert.'},</a:t>
            </a:r>
            <a:br/>
            <a:r>
              <a:t>    {'role': 'user', 'content': 'My name is Priya.'},</a:t>
            </a:r>
            <a:br/>
            <a:r>
              <a:t>    {'role': 'assistant', 'content': 'Namaste Priya! How can I help?'},</a:t>
            </a:r>
            <a:br/>
            <a:r>
              <a:t>    {'role': 'user', 'content': 'What is my name?'}</a:t>
            </a:r>
            <a:br/>
            <a:r>
              <a:t>]</a:t>
            </a:r>
            <a:br/>
            <a:br/>
            <a:r>
              <a:t># The model correctly identifies 'Priya' because</a:t>
            </a:r>
            <a:br/>
            <a:r>
              <a:t># the full history array was transmitted.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MODULE 2: CONVERSATIONAL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04 – Function &amp; Tool Calling Architecture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Enabling LLMs to query databases and invoke live APIs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The Agentic Tool Execution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1. Define Tools (JSON Schema)  ➔  2. LLM Emits Tool Call Request  ➔  3. Python Executes Function  ➔  4. Return Tool Result to LLM  ➔  5. LLM Summarizes Final 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5120640" cy="25603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Tool Definition (JSON Schema)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</a:defRPr>
            </a:pPr>
            <a:r>
              <a:t>tools = [{</a:t>
            </a:r>
            <a:br/>
            <a:r>
              <a:t>  'type': 'function',</a:t>
            </a:r>
            <a:br/>
            <a:r>
              <a:t>  'function': {</a:t>
            </a:r>
            <a:br/>
            <a:r>
              <a:t>    'name': 'get_balance',</a:t>
            </a:r>
            <a:br/>
            <a:r>
              <a:t>    'description': 'Fetch account balance',</a:t>
            </a:r>
            <a:br/>
            <a:r>
              <a:t>    'parameters': {'properties': {'account_number': {'type': 'string'}}}</a:t>
            </a:r>
            <a:br/>
            <a:r>
              <a:t>  }</a:t>
            </a:r>
            <a:br/>
            <a:r>
              <a:t>}]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474720"/>
            <a:ext cx="5120640" cy="25603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657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Execution Handler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9319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0B981"/>
                </a:solidFill>
              </a:defRPr>
            </a:pPr>
            <a:r>
              <a:t>if response.choices[0].message.tool_calls:</a:t>
            </a:r>
            <a:br/>
            <a:r>
              <a:t>    call = response.choices[0].message.tool_calls[0]</a:t>
            </a:r>
            <a:br/>
            <a:r>
              <a:t>    args = json.loads(call.function.arguments)</a:t>
            </a:r>
            <a:br/>
            <a:r>
              <a:t>    result = tools_map[call.function.name](**args)</a:t>
            </a:r>
            <a:br/>
            <a:r>
              <a:t>    messages.append({'role': 'tool', 'content': json.dumps(result),</a:t>
            </a:r>
            <a:br/>
            <a:r>
              <a:t>                    'tool_call_id': call.id})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MODULE 2: CONVERSATIONAL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05 – Real-Time Streaming with Dynamic Tool Execution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Harmonizing token streaming with structured function calling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Dual-Mode Streaming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Delta Content: Directly stream conversational replies token-by-token.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Delta Tool Calls: Accumulate streaming argument fragments into complete JSON.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Automatic Interception: Once finish_reason='tool_calls' arrives, execute Python tool immediately.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Second Pass Streaming: Stream the final summary of the tool result back to the user seamlessly.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Streaming Flowchart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59E0B"/>
                </a:solidFill>
              </a:defRPr>
            </a:pPr>
            <a:r>
              <a:t>1. Stream LLM chunks with tools enabled</a:t>
            </a:r>
          </a:p>
          <a:p>
            <a:pPr>
              <a:spcAft>
                <a:spcPts val="800"/>
              </a:spcAft>
              <a:defRPr sz="1300">
                <a:solidFill>
                  <a:srgbClr val="F59E0B"/>
                </a:solidFill>
              </a:defRPr>
            </a:pPr>
            <a:r>
              <a:t>2. Does chunk contain text? ➔ Print immediately</a:t>
            </a:r>
          </a:p>
          <a:p>
            <a:pPr>
              <a:spcAft>
                <a:spcPts val="800"/>
              </a:spcAft>
              <a:defRPr sz="1300">
                <a:solidFill>
                  <a:srgbClr val="F59E0B"/>
                </a:solidFill>
              </a:defRPr>
            </a:pPr>
            <a:r>
              <a:t>3. Does chunk contain tool_calls? ➔ Accumulate JSON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4. On stream end with tool call: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   - Execute get_transactions()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   - Append tool response to message history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   - Trigger second stream for final answer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MODULE 2: CONVERSATIONAL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06 – Interactive Web Chat Interface with Gradio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Packaging the tool-enabled agent into a modern browser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Gradio UI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gr.ChatInterface: Rapid zero-boilerplate chat UI with built-in message bubbles.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History Management: Automatically passes tuples of (user, bot) messages.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Backend Routing: Seamlessly delegates user questions to our Sarvam AI banking agent.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Local &amp; Public Sharing: Instantly test in notebook or share via public URL.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Gradio Launch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import gradio as gr</a:t>
            </a:r>
            <a:br/>
            <a:br/>
            <a:r>
              <a:t>def chat(user_message, history):</a:t>
            </a:r>
            <a:br/>
            <a:r>
              <a:t>    # Reconstruct messages array</a:t>
            </a:r>
            <a:br/>
            <a:r>
              <a:t>    # Call Sarvam AI client with tools</a:t>
            </a:r>
            <a:br/>
            <a:r>
              <a:t>    # Handle any tool calls</a:t>
            </a:r>
            <a:br/>
            <a:r>
              <a:t>    return assistant_reply</a:t>
            </a:r>
            <a:br/>
            <a:br/>
            <a:r>
              <a:t>chat_interface = gr.ChatInterface(</a:t>
            </a:r>
            <a:br/>
            <a:r>
              <a:t>    fn=chat,</a:t>
            </a:r>
            <a:br/>
            <a:r>
              <a:t>    title='Sarvam AI Banking Assistant',</a:t>
            </a:r>
            <a:br/>
            <a:r>
              <a:t>    description='Ask balance or transaction queries'</a:t>
            </a:r>
            <a:br/>
            <a:r>
              <a:t>)</a:t>
            </a:r>
            <a:br/>
            <a:r>
              <a:t>chat_interface.launch(inline=True)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MODULE 3: NLP &amp; INTEROPERABILITY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07 – Practical NLP: Sentiment Analysis &amp; Summarization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Batch classification and executive document summarization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Use Case 1: Sentiment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Unstructured Customer Feedback: Banking app store reviews.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Classification Schema: Map text to POSITIVE, NEGATIVE, NEUTRAL.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Root Cause Extraction: Identify app crashes, login issues, or UI praise.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High Throughput: Batch multiple reviews into structured outputs.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Use Case 2: Multi-Review Summarization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0B981"/>
                </a:solidFill>
              </a:defRPr>
            </a:pPr>
            <a:r>
              <a:t>• Aggregation: Consolidate 50+ user reviews into a single text block.</a:t>
            </a:r>
          </a:p>
          <a:p>
            <a:pPr>
              <a:spcAft>
                <a:spcPts val="1200"/>
              </a:spcAft>
              <a:defRPr sz="1300">
                <a:solidFill>
                  <a:srgbClr val="10B981"/>
                </a:solidFill>
              </a:defRPr>
            </a:pPr>
            <a:r>
              <a:t>• Prompt Strategy: Ask for key pain points and feature requests.</a:t>
            </a:r>
          </a:p>
          <a:p>
            <a:pPr>
              <a:spcAft>
                <a:spcPts val="1200"/>
              </a:spcAft>
              <a:defRPr sz="1300">
                <a:solidFill>
                  <a:srgbClr val="10B981"/>
                </a:solidFill>
              </a:defRPr>
            </a:pPr>
            <a:r>
              <a:t>• Executive Output: Delivers bulleted action items for engineering teams.</a:t>
            </a:r>
          </a:p>
          <a:p>
            <a:pPr>
              <a:spcAft>
                <a:spcPts val="1200"/>
              </a:spcAft>
              <a:defRPr sz="1300">
                <a:solidFill>
                  <a:srgbClr val="10B981"/>
                </a:solidFill>
              </a:defRPr>
            </a:pPr>
            <a:r>
              <a:t>• Zero Shot Reasoning: Accurately identifies frequent failure points.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MODULE 3: NLP &amp; INTEROPERABILITY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08 – Multi-Provider Wrapper with OpenAI SDK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Eliminating vendor lock-in with a single unified client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Unified Provider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9E0B"/>
                </a:solidFill>
              </a:defRPr>
            </a:pPr>
            <a:r>
              <a:t>from openai import OpenAI</a:t>
            </a:r>
            <a:br/>
            <a:br/>
            <a:r>
              <a:t>def call_llm(base_url: str, api_key: str, model: str, messages: list):</a:t>
            </a:r>
            <a:br/>
            <a:r>
              <a:t>    client = OpenAI(base_url=base_url, api_key=api_key)</a:t>
            </a:r>
            <a:br/>
            <a:r>
              <a:t>    response = client.chat.completions.create(model=model, messages=messages)</a:t>
            </a:r>
            <a:br/>
            <a:r>
              <a:t>    return response.choices[0].message.content</a:t>
            </a:r>
            <a:br/>
            <a:br/>
            <a:r>
              <a:t># 1. Call Sarvam AI:</a:t>
            </a:r>
            <a:br/>
            <a:r>
              <a:t>call_llm(base_url='https://api.sarvam.ai/v1', api_key=SARVAM_KEY, model='sarvam-105b-conversations', ...)</a:t>
            </a:r>
            <a:br/>
            <a:br/>
            <a:r>
              <a:t># 2. Call Groq / OpenAI:</a:t>
            </a:r>
            <a:br/>
            <a:r>
              <a:t>call_llm(base_url='https://api.groq.com/openai/v1', api_key=GROQ_KEY, model='llama-3.3-70b-versatile', ...)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MODULE 3: NLP &amp; INTEROPERABILITY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09 – Indic Language AI: Detection, Translation &amp; Slang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Mastering language identification and colloquial nuances across Indian scripts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Language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API: client.text.identify_language()</a:t>
            </a:r>
            <a:br/>
            <a:r>
              <a:t>• Detects script (Deva, Taml, Telu)</a:t>
            </a:r>
            <a:br/>
            <a:r>
              <a:t>• Returns ISO code (hi-IN, ta-IN)</a:t>
            </a:r>
            <a:br/>
            <a:r>
              <a:t>• Handles mixed code-switching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Indic Translation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2860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• API: client.text.translate()</a:t>
            </a:r>
            <a:br/>
            <a:r>
              <a:t>• Bidirectional English ⇄ 11+ Indic Languages</a:t>
            </a:r>
            <a:br/>
            <a:r>
              <a:t>• Preserves grammatical gender &amp; tense</a:t>
            </a:r>
            <a:br/>
            <a:r>
              <a:t>• High fidelity translation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Modern vs. Classic Modes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2860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0B981"/>
                </a:solidFill>
              </a:defRPr>
            </a:pPr>
            <a:r>
              <a:t>• Classic Mode: Formal, literary phrasing suitable for legal/gov.</a:t>
            </a:r>
            <a:br/>
            <a:r>
              <a:t>• Modern Mode: Everyday spoken vernacular &amp; casual phrasing.</a:t>
            </a:r>
            <a:br/>
            <a:r>
              <a:t>• Natural fit for consumer apps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MODULE 3: NLP &amp; INTEROPERABILITY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10 – Token Efficiency &amp; Cost Comparison across Indic LLMs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Why specialized Indic tokenization drastically reduces cost and latency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The Indic Tokenization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Global tokenizers split Indian Unicode characters into byte fragments.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A 10-word Hindi sentence can consume 45+ tokens on standard tokenizers.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Sarvam AI's tokenizer is built natively for Indian phonetic subwords.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Result: ~60% reduction in tokens per prompt.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Benchmark Results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Prompt: 'नमस्ते, आप कैसे हैं?'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Generic Model Tokenizer: ~18-24 tokens</a:t>
            </a:r>
          </a:p>
          <a:p>
            <a:pPr>
              <a:spcAft>
                <a:spcPts val="1000"/>
              </a:spcAft>
              <a:defRPr sz="1300">
                <a:solidFill>
                  <a:srgbClr val="F59E0B"/>
                </a:solidFill>
              </a:defRPr>
            </a:pPr>
            <a:r>
              <a:t>Sarvam Native Indic Tokenizer: ~6-8 tokens</a:t>
            </a:r>
          </a:p>
          <a:p>
            <a:pPr>
              <a:spcAft>
                <a:spcPts val="1000"/>
              </a:spcAft>
              <a:defRPr sz="1300">
                <a:solidFill>
                  <a:srgbClr val="F59E0B"/>
                </a:solidFill>
              </a:defRPr>
            </a:pPr>
            <a:r>
              <a:t>Impact: 3x Faster generation speed and 3x Lower API consumption costs.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MODULE 4: VOICE &amp; SPEECH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11 – Voice AI: Text-to-Speech Synthesis with Bulbul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High-fidelity, expressive neural speech synthesis across Indian languages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Bulbul TTS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Natural Indian Intonation: Avoids robotic, monotone cadence.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Multilingual Support: Synthesizes English, Hindi, Tamil, Telugu, and more.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Speaker Voice Options: Diverse male and female personas.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Output Format: High quality .wav audio bytes ready for playback or streaming.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Python Synthesis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BDF8"/>
                </a:solidFill>
              </a:defRPr>
            </a:pPr>
            <a:r>
              <a:t>audio = client.text_to_speech.convert(</a:t>
            </a:r>
            <a:br/>
            <a:r>
              <a:t>    text='Namaste! Welcome to our banking portal.',</a:t>
            </a:r>
            <a:br/>
            <a:r>
              <a:t>    target_language_code='en-IN',</a:t>
            </a:r>
            <a:br/>
            <a:r>
              <a:t>    speaker='meera'</a:t>
            </a:r>
            <a:br/>
            <a:r>
              <a:t>)</a:t>
            </a:r>
            <a:br/>
            <a:br/>
            <a:r>
              <a:t># Save to disk or play in Jupyter:</a:t>
            </a:r>
            <a:br/>
            <a:r>
              <a:t>save(audio, './data/audio/output1.wav')</a:t>
            </a:r>
            <a:br/>
            <a:r>
              <a:t>play(audio, notebook=True)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MODULE 4: VOICE &amp; SPEECH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12 – Voice AI: Speech-to-Text Transcription with Saaras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Robust neural transcription designed for Indian accents and background noise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Saaras STT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Accent Invariance: Accurate across diverse regional Indian accents.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Noise Robustness: Performs reliably in noisy real-world environments.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Code-Mixed Support: Accurately transcribes mixed Hinglish/regional terms.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Direct Microphone Recording: Seamless integration with Gradio audio inputs.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STT Transcription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59E0B"/>
                </a:solidFill>
              </a:defRPr>
            </a:pPr>
            <a:r>
              <a:t>def transcribe_audio_to_text(audio_file):</a:t>
            </a:r>
            <a:br/>
            <a:r>
              <a:t>    response = client.speech_to_text.transcribe(</a:t>
            </a:r>
            <a:br/>
            <a:r>
              <a:t>        file=audio_file,</a:t>
            </a:r>
            <a:br/>
            <a:r>
              <a:t>        model='saaras:v3'</a:t>
            </a:r>
            <a:br/>
            <a:r>
              <a:t>    )</a:t>
            </a:r>
            <a:br/>
            <a:r>
              <a:t>    return response.transcript</a:t>
            </a:r>
            <a:br/>
            <a:br/>
            <a:r>
              <a:t># Pass audio from disk or Gradio live mic:</a:t>
            </a:r>
            <a:br/>
            <a:r>
              <a:t>text = transcribe_audio_to_text(open('user.wav', 'rb'))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MODULE 5: DOCUMENT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13 – Document Intelligence: Async OCR Digitization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Converting scanned PDF documents and handwritten notes into clean Markdown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Asynchronous Document Digitization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0B981"/>
                </a:solidFill>
              </a:defRPr>
            </a:pPr>
            <a:r>
              <a:t># 1. Submit Digitization Job:</a:t>
            </a:r>
            <a:br/>
            <a:r>
              <a:t>job = client.doc_ai.digitise(file=open('notes.pdf', 'rb'))</a:t>
            </a:r>
            <a:br/>
            <a:r>
              <a:t>job_id = job.job_id</a:t>
            </a:r>
            <a:br/>
            <a:br/>
            <a:r>
              <a:t># 2. Poll Status until SUCCESS:</a:t>
            </a:r>
            <a:br/>
            <a:r>
              <a:t>status = client.doc_ai.get_status(job_id=job_id)</a:t>
            </a:r>
            <a:br/>
            <a:br/>
            <a:r>
              <a:t># 3. Download &amp; Unpack Markdown Results:</a:t>
            </a:r>
            <a:br/>
            <a:r>
              <a:t>url_obj = client.doc_ai.get_download_url(job_id=job_id)</a:t>
            </a:r>
            <a:br/>
            <a:r>
              <a:t>zip_content = requests.get(url_obj.url).content</a:t>
            </a:r>
            <a:br/>
            <a:r>
              <a:t># Unzips to high-fidelity Markdown retaining tables, lists &amp; handwriting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MODULE 5: DOCUMENT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14 – Document Intelligence: Schema-Based Extraction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Extracting validated JSON key-value records directly from physical documents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Extraction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Targeted Extraction: Define exact JSON keys instead of reading full text.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Zero Regex: Eliminates brittle regex and custom heuristics.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Enterprise Applications: Automated invoice processing, loan forms, &amp; KYC verification.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Direct JSON Output: Returns type-checked values ready for databases.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Extraction Code Blueprint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59E0B"/>
                </a:solidFill>
              </a:defRPr>
            </a:pPr>
            <a:r>
              <a:t>schema = {</a:t>
            </a:r>
            <a:br/>
            <a:r>
              <a:t>    'properties': {</a:t>
            </a:r>
            <a:br/>
            <a:r>
              <a:t>        'sender_name': {'type': 'string'},</a:t>
            </a:r>
            <a:br/>
            <a:r>
              <a:t>        'account_number': {'type': 'string'},</a:t>
            </a:r>
            <a:br/>
            <a:r>
              <a:t>        'requested_amount': {'type': 'number'}</a:t>
            </a:r>
            <a:br/>
            <a:r>
              <a:t>    }</a:t>
            </a:r>
            <a:br/>
            <a:r>
              <a:t>}</a:t>
            </a:r>
            <a:br/>
            <a:br/>
            <a:r>
              <a:t>job = client.doc_ai.extract(file=pdf_data, schema=schema)</a:t>
            </a:r>
            <a:br/>
            <a:r>
              <a:t># Poll status -&gt; Fetch structured JSON data:</a:t>
            </a:r>
            <a:br/>
            <a:r>
              <a:t>data = client.doc_ai.get_results(job_id=job.job_id)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MODULE 6: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15 – Capstone: Full-Duplex Voice-to-Voice AI Assistant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Building an end-to-end multimodal banking assistant with Gradio &amp; VAD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End-to-End Multimodal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</a:defRPr>
            </a:pPr>
            <a:r>
              <a:t>                    ┌──────────────────────────────────────────────┐</a:t>
            </a:r>
            <a:br/>
            <a:r>
              <a:t>                    │          USER SPEAKS INTO MICROPHONE         │</a:t>
            </a:r>
            <a:br/>
            <a:r>
              <a:t>                    └──────────────────────┬───────────────────────┘</a:t>
            </a:r>
            <a:br/>
            <a:r>
              <a:t>                                           │ (Voice Activity Detection)</a:t>
            </a:r>
            <a:br/>
            <a:r>
              <a:t>                                           ▼</a:t>
            </a:r>
            <a:br/>
            <a:r>
              <a:t>                    ┌──────────────────────────────────────────────┐</a:t>
            </a:r>
            <a:br/>
            <a:r>
              <a:t>                    │     1. SPEECH-TO-TEXT (Saaras:v3)            │</a:t>
            </a:r>
            <a:br/>
            <a:r>
              <a:t>                    └──────────────────────┬───────────────────────┘</a:t>
            </a:r>
            <a:br/>
            <a:r>
              <a:t>                                           │ Transcribed Text</a:t>
            </a:r>
            <a:br/>
            <a:r>
              <a:t>                                           ▼</a:t>
            </a:r>
            <a:br/>
            <a:r>
              <a:t>                    ┌──────────────────────────────────────────────┐</a:t>
            </a:r>
            <a:br/>
            <a:r>
              <a:t>                    │     2. BANKING AGENT (Sarvam-105b)           │</a:t>
            </a:r>
            <a:br/>
            <a:r>
              <a:t>                    │        Invokes Tools (Balance/Transactions)  │</a:t>
            </a:r>
            <a:br/>
            <a:r>
              <a:t>                    └──────────────────────┬───────────────────────┘</a:t>
            </a:r>
            <a:br/>
            <a:r>
              <a:t>                                           │ Assistant Response Text</a:t>
            </a:r>
            <a:br/>
            <a:r>
              <a:t>                                           ▼</a:t>
            </a:r>
            <a:br/>
            <a:r>
              <a:t>                    ┌──────────────────────────────────────────────┐</a:t>
            </a:r>
            <a:br/>
            <a:r>
              <a:t>                    │     3. TEXT-TO-SPEECH (Bulbul:v3)            │</a:t>
            </a:r>
            <a:br/>
            <a:r>
              <a:t>                    └──────────────────────┬───────────────────────┘</a:t>
            </a:r>
            <a:br/>
            <a:r>
              <a:t>                                           │ Audio .wav Stream</a:t>
            </a:r>
            <a:br/>
            <a:r>
              <a:t>                                           ▼</a:t>
            </a:r>
            <a:br/>
            <a:r>
              <a:t>                    ┌──────────────────────────────────────────────┐</a:t>
            </a:r>
            <a:br/>
            <a:r>
              <a:t>                    │     4. GRADIO 2-COLUMN LIVE WEB UI           │</a:t>
            </a:r>
            <a:br/>
            <a:r>
              <a:t>                    └──────────────────────────────────────────────┘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MODULE 6: COURSE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16 – Conclusion &amp; What to Build Next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Congratulations on completing the course! Here is your roadmap forward.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What You Mastered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✅  Sarvam AI SDK &amp; OpenAI-compatible endpoints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✅  Streaming low-latency chat completions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✅  Autonomous function and tool calling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✅  Indic language detection &amp; colloquial translation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✅  Bulbul Text-to-Speech &amp; Saaras Speech-to-Text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✅  Async OCR and schema-based document extraction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✅  Production-ready Gradio Voice AI Assistant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Next Horizons to Explore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59E0B"/>
                </a:solidFill>
              </a:defRPr>
            </a:pPr>
            <a:r>
              <a:t>🚀  Indic RAG Pipelines: Combine Sarvam with Chroma / Pinecone vector DBs.</a:t>
            </a:r>
          </a:p>
          <a:p>
            <a:pPr>
              <a:spcAft>
                <a:spcPts val="1200"/>
              </a:spcAft>
              <a:defRPr sz="1200">
                <a:solidFill>
                  <a:srgbClr val="F59E0B"/>
                </a:solidFill>
              </a:defRPr>
            </a:pPr>
            <a:r>
              <a:t>🚀  Telephony Voice Bots: Integrate Saaras &amp; Bulbul with Twilio / Exotel.</a:t>
            </a:r>
          </a:p>
          <a:p>
            <a:pPr>
              <a:spcAft>
                <a:spcPts val="1200"/>
              </a:spcAft>
              <a:defRPr sz="1200">
                <a:solidFill>
                  <a:srgbClr val="F59E0B"/>
                </a:solidFill>
              </a:defRPr>
            </a:pPr>
            <a:r>
              <a:t>🚀  Model Fine-Tuning: Adapt domain-specific vernacular data.</a:t>
            </a:r>
          </a:p>
          <a:p>
            <a:pPr>
              <a:spcAft>
                <a:spcPts val="1200"/>
              </a:spcAft>
              <a:defRPr sz="1200">
                <a:solidFill>
                  <a:srgbClr val="F59E0B"/>
                </a:solidFill>
              </a:defRPr>
            </a:pPr>
            <a:r>
              <a:t>🚀  Production Hosting: Deploy Gradio apps to Hugging Face Spaces or AWS.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